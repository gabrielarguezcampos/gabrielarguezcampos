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616719ac3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d616719ac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616719ac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616719a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616719ac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616719a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616719ac3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616719ac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616719ac3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616719a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616719ac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d616719ac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616719ac3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616719ac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616719ac3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616719ac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616719ac3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d616719ac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616719ac3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d616719ac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616719a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2d616719ac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16719ac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2d616719ac3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17904" y="1517904"/>
            <a:ext cx="9144000" cy="2798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17904" y="4572000"/>
            <a:ext cx="9144000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1517904" y="1517904"/>
            <a:ext cx="9144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haron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517904" y="4572000"/>
            <a:ext cx="91440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venir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1517904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6336792" y="2980944"/>
            <a:ext cx="4334256" cy="311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517905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1517904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336792" y="2944368"/>
            <a:ext cx="4334256" cy="6060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336792" y="3644987"/>
            <a:ext cx="4334256" cy="2449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330952" y="1517904"/>
            <a:ext cx="5330952" cy="4581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3200"/>
              <a:buChar char="+"/>
              <a:defRPr sz="32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/>
            </a:lvl2pPr>
            <a:lvl3pPr indent="-3810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400"/>
              <a:buChar char="+"/>
              <a:defRPr sz="24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venir"/>
              <a:buNone/>
              <a:defRPr sz="2000"/>
            </a:lvl4pPr>
            <a:lvl5pPr indent="-355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2000"/>
              <a:buChar char="+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517904" y="1517904"/>
            <a:ext cx="3145536" cy="17922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349240" y="764032"/>
            <a:ext cx="6089904" cy="533095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517904" y="3483864"/>
            <a:ext cx="3145536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4526280" y="-36576"/>
            <a:ext cx="3127248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7287289" y="2680932"/>
            <a:ext cx="4546786" cy="2220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2525788" y="510021"/>
            <a:ext cx="4546786" cy="6562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1800"/>
              <a:buChar char="+"/>
              <a:defRPr/>
            </a:lvl1pPr>
            <a:lvl2pPr indent="-228600" lvl="1" marL="91440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3pPr>
            <a:lvl4pPr indent="-228600" lvl="3" marL="18288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4pPr>
            <a:lvl5pPr indent="-342900" lvl="4" marL="22860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800"/>
              <a:buChar char="+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  <a:defRPr b="0" i="0" sz="42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Pts val="2600"/>
              <a:buFont typeface="Avenir"/>
              <a:buChar char="+"/>
              <a:defRPr b="0" i="0" sz="26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venir"/>
              <a:buChar char="+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venir"/>
              <a:buNone/>
              <a:defRPr b="0" i="1" sz="1800" u="none" cap="none" strike="noStrike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venir"/>
              <a:buChar char="+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ED9C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crobat.adobe.com/id/urn:aaid:sc:VA6C2:91e682a0-ec6c-473d-bc74-7f7efa68d96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3"/>
          <p:cNvSpPr txBox="1"/>
          <p:nvPr>
            <p:ph type="ctrTitle"/>
          </p:nvPr>
        </p:nvSpPr>
        <p:spPr>
          <a:xfrm>
            <a:off x="6047980" y="1030406"/>
            <a:ext cx="5068121" cy="3506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haroni"/>
              <a:buNone/>
            </a:pPr>
            <a:r>
              <a:rPr lang="en-US" sz="5100"/>
              <a:t>DengAI: Predicting Disease Spread </a:t>
            </a:r>
            <a:br>
              <a:rPr lang="en-US" sz="5100"/>
            </a:br>
            <a:endParaRPr sz="51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047979" y="4175749"/>
            <a:ext cx="5068121" cy="1651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Members: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/>
              <a:t>Kevin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/>
              <a:t>Gabriela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rPr lang="en-US"/>
              <a:t>Natanael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A colorful dots in a white background&#10;&#10;Description automatically generated with medium confidence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40896" r="0" t="0"/>
          <a:stretch/>
        </p:blipFill>
        <p:spPr>
          <a:xfrm>
            <a:off x="20" y="10"/>
            <a:ext cx="5404493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</a:pPr>
            <a:r>
              <a:rPr b="1" lang="en-US"/>
              <a:t>Introduction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1517904" y="2781652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80"/>
              <a:t>Background:</a:t>
            </a:r>
            <a:endParaRPr b="1" sz="3880"/>
          </a:p>
          <a:p>
            <a:pPr indent="-353377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Dengue fever is a mosquito-borne disease prevalent in tropical and subtropical regions.</a:t>
            </a:r>
            <a:endParaRPr/>
          </a:p>
          <a:p>
            <a:pPr indent="-353377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Transmission dynamics are influenced by climate variables like temperature and precipitation.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4350"/>
              <a:t>Significance:</a:t>
            </a:r>
            <a:endParaRPr b="1" sz="4350"/>
          </a:p>
          <a:p>
            <a:pPr indent="-353377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Accurate prediction of dengue outbreaks aids public health initiatives and resource allocation.</a:t>
            </a:r>
            <a:endParaRPr/>
          </a:p>
          <a:p>
            <a:pPr indent="-353377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Char char="+"/>
            </a:pPr>
            <a:r>
              <a:rPr b="1" lang="en-US"/>
              <a:t>Objective:</a:t>
            </a:r>
            <a:endParaRPr/>
          </a:p>
          <a:p>
            <a:pPr indent="-353377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Develop machine learning models to predict dengue outbreaks using climate and disease data.</a:t>
            </a:r>
            <a:endParaRPr/>
          </a:p>
          <a:p>
            <a:pPr indent="-262572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0" y="0"/>
            <a:ext cx="12192000" cy="6099048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ED9C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0" y="-1"/>
            <a:ext cx="11430001" cy="6175613"/>
          </a:xfrm>
          <a:custGeom>
            <a:rect b="b" l="l" r="r" t="t"/>
            <a:pathLst>
              <a:path extrusionOk="0" h="6175613" w="11430001">
                <a:moveTo>
                  <a:pt x="0" y="0"/>
                </a:moveTo>
                <a:lnTo>
                  <a:pt x="5638031" y="0"/>
                </a:lnTo>
                <a:lnTo>
                  <a:pt x="5638031" y="758954"/>
                </a:lnTo>
                <a:lnTo>
                  <a:pt x="11430001" y="758954"/>
                </a:lnTo>
                <a:lnTo>
                  <a:pt x="11430001" y="6175613"/>
                </a:lnTo>
                <a:lnTo>
                  <a:pt x="5638031" y="6175613"/>
                </a:lnTo>
                <a:lnTo>
                  <a:pt x="5240741" y="6175613"/>
                </a:lnTo>
                <a:lnTo>
                  <a:pt x="0" y="61756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p15"/>
          <p:cNvSpPr txBox="1"/>
          <p:nvPr>
            <p:ph type="title"/>
          </p:nvPr>
        </p:nvSpPr>
        <p:spPr>
          <a:xfrm>
            <a:off x="762000" y="758953"/>
            <a:ext cx="4089779" cy="2028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</a:pPr>
            <a:r>
              <a:rPr b="1" lang="en-US"/>
              <a:t>First Dataset:</a:t>
            </a:r>
            <a:br>
              <a:rPr lang="en-US"/>
            </a:br>
            <a:br>
              <a:rPr b="1" lang="en-US"/>
            </a:b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545525" y="1919175"/>
            <a:ext cx="4306200" cy="41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5760" lvl="0" marL="36576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/>
              <a:t>Data from Zona da Mata, Minas Gerais, Brazil.</a:t>
            </a:r>
            <a:endParaRPr/>
          </a:p>
          <a:p>
            <a:pPr indent="-365760" lvl="0" marL="36576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/>
              <a:t>Sources: INMET and DATASUS/SINAN.</a:t>
            </a:r>
            <a:endParaRPr/>
          </a:p>
          <a:p>
            <a:pPr indent="-365760" lvl="0" marL="36576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/>
              <a:t>Issues: Low data quality and reliability, potential inadequate </a:t>
            </a:r>
            <a:r>
              <a:rPr lang="en-US"/>
              <a:t>preprocessing</a:t>
            </a:r>
            <a:endParaRPr/>
          </a:p>
          <a:p>
            <a:pPr indent="-200659" lvl="0" marL="36576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5721" y="1522145"/>
            <a:ext cx="2757636" cy="4572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</a:pPr>
            <a:r>
              <a:rPr b="1" lang="en-US"/>
              <a:t>Second Dataset (DengAI):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US"/>
              <a:t>Second Dataset (DengAI):</a:t>
            </a:r>
            <a:endParaRPr/>
          </a:p>
          <a:p>
            <a:pPr indent="-365760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/>
              <a:t>Weekly dengue case counts and environmental variables for San Juan (Puerto Rico) and Iquitos (Peru). </a:t>
            </a:r>
            <a:endParaRPr/>
          </a:p>
          <a:p>
            <a:pPr indent="-365760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/>
              <a:t>There was a benchmark that had one strong issue which was it couldn’t predict peaks/outbreaks correctly</a:t>
            </a:r>
            <a:endParaRPr/>
          </a:p>
          <a:p>
            <a:pPr indent="-200659" lvl="0" marL="36576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517902" y="1517900"/>
            <a:ext cx="55038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Benchmark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1517902" y="2971800"/>
            <a:ext cx="3707100" cy="31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San Juan</a:t>
            </a:r>
            <a:endParaRPr b="1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/>
              <a:t>MAE: 22.08</a:t>
            </a:r>
            <a:endParaRPr b="1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/>
              <a:t>R2: 0.14</a:t>
            </a:r>
            <a:endParaRPr b="1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/>
              <a:t>MSE: 756.98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Iquitos</a:t>
            </a:r>
            <a:endParaRPr b="1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/>
              <a:t>MAE: 6.47</a:t>
            </a:r>
            <a:endParaRPr b="1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/>
              <a:t>R2: 0.0036</a:t>
            </a:r>
            <a:endParaRPr b="1"/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/>
              <a:t>MSE: 119.32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125" y="978250"/>
            <a:ext cx="5739025" cy="49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1517904" y="1517904"/>
            <a:ext cx="91440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</a:t>
            </a:r>
            <a:r>
              <a:rPr lang="en-US"/>
              <a:t> Approach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1447550" y="2426675"/>
            <a:ext cx="9389400" cy="324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327" lvl="0" marL="457200" rtl="0" algn="l">
              <a:spcBef>
                <a:spcPts val="900"/>
              </a:spcBef>
              <a:spcAft>
                <a:spcPts val="0"/>
              </a:spcAft>
              <a:buSzPct val="69230"/>
              <a:buChar char="+"/>
            </a:pPr>
            <a:r>
              <a:rPr lang="en-US"/>
              <a:t>The first approach was simple, </a:t>
            </a:r>
            <a:r>
              <a:rPr lang="en-US"/>
              <a:t>swapping</a:t>
            </a:r>
            <a:r>
              <a:rPr lang="en-US"/>
              <a:t> the model used for a different one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69230"/>
              <a:buChar char="+"/>
            </a:pPr>
            <a:r>
              <a:rPr lang="en-US"/>
              <a:t>The models used were KNN Regression, Decision Tree Regression, SVM Regression, and Random Forest Regression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69230"/>
              <a:buChar char="+"/>
            </a:pPr>
            <a:r>
              <a:rPr lang="en-US"/>
              <a:t>How the data was handled was equivalent to how the benchmark did apart from normalizing the features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69230"/>
              <a:buChar char="+"/>
            </a:pPr>
            <a:r>
              <a:rPr lang="en-US"/>
              <a:t>Hyperparameters </a:t>
            </a:r>
            <a:r>
              <a:rPr lang="en-US"/>
              <a:t>were</a:t>
            </a:r>
            <a:r>
              <a:rPr lang="en-US"/>
              <a:t> tuned using GridSearchCV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69230"/>
              <a:buChar char="+"/>
            </a:pPr>
            <a:r>
              <a:rPr lang="en-US"/>
              <a:t>In a way it was a way to compare the model they used to ones we knew about, as well as perhaps gain insight into we would need to improve the </a:t>
            </a:r>
            <a:r>
              <a:rPr lang="en-US"/>
              <a:t>performance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1517904" y="1517904"/>
            <a:ext cx="91440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Approach Results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1517904" y="2426675"/>
            <a:ext cx="9144000" cy="31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Generally, all the models apart from one simply ended converging towards about the same result as the benchmark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SVM was the only the model to perform better having a MAE of about 17.07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Even then it still faced the same issue where the peaks/outbreaks weren’t correctly predicted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1517904" y="1517904"/>
            <a:ext cx="91440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Insights and Lead up to Second Approach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1517904" y="2971800"/>
            <a:ext cx="9144000" cy="31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It was obvious that for this </a:t>
            </a:r>
            <a:r>
              <a:rPr lang="en-US"/>
              <a:t>particularly</a:t>
            </a:r>
            <a:r>
              <a:rPr lang="en-US"/>
              <a:t> problem a simple model swap wouldn’t necessarily improve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This was further shown with the first approach as well as when simply adding the vegetation indexes 2 models got better performance than the benchmark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Although the same issue resides where outbreaks aren’t correctly predicted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189903" y="1078250"/>
            <a:ext cx="33342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Tree Regression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500" y="444963"/>
            <a:ext cx="6863275" cy="59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1189900" y="2422550"/>
            <a:ext cx="36156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San Juan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23.03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-0.65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1446.34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Iquitos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6.78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0.00062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119.67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1189903" y="1078250"/>
            <a:ext cx="33342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Random Forest Regression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189900" y="2422550"/>
            <a:ext cx="36156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San Juan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22.87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-0.01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884.73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Iquitos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6.61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0.0034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119.34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100" y="325600"/>
            <a:ext cx="7132875" cy="62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1189903" y="1078250"/>
            <a:ext cx="33342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KNN Regression</a:t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1189900" y="2422550"/>
            <a:ext cx="36156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San Juan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19.24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0.17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728.90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Iquitos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7.2962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-0.061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127.06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100" y="370600"/>
            <a:ext cx="7034300" cy="611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1189903" y="1078250"/>
            <a:ext cx="3334200" cy="134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SVM Regression</a:t>
            </a:r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1189900" y="2422550"/>
            <a:ext cx="3615600" cy="3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San Juan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17.19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0.06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823.64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Iquitos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MAE: 6.49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R2: -0.104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b="1"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MSE: 132.21</a:t>
            </a:r>
            <a:endParaRPr b="1"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825" y="301063"/>
            <a:ext cx="7194251" cy="62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2021125" y="1787250"/>
            <a:ext cx="3020100" cy="32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</a:t>
            </a:r>
            <a:r>
              <a:rPr lang="en-US"/>
              <a:t>Approach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</a:t>
            </a:r>
            <a:r>
              <a:rPr lang="en-US"/>
              <a:t>Engineering</a:t>
            </a:r>
            <a:r>
              <a:rPr lang="en-US"/>
              <a:t> </a:t>
            </a:r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525" y="160500"/>
            <a:ext cx="6185251" cy="69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663" y="512200"/>
            <a:ext cx="7784083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ED9C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ED9C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071372" y="1065276"/>
            <a:ext cx="10049256" cy="4727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-1" l="0" r="4970" t="0"/>
          <a:stretch/>
        </p:blipFill>
        <p:spPr>
          <a:xfrm>
            <a:off x="1235964" y="1229868"/>
            <a:ext cx="9720072" cy="439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0" y="0"/>
            <a:ext cx="12192000" cy="6099048"/>
          </a:xfrm>
          <a:prstGeom prst="rect">
            <a:avLst/>
          </a:pr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ED9C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0" y="0"/>
            <a:ext cx="533400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793325" y="1672026"/>
            <a:ext cx="4089900" cy="3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13042" lvl="0" marL="36576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haroni"/>
              <a:buNone/>
            </a:pPr>
            <a:r>
              <a:t/>
            </a:r>
            <a:endParaRPr b="0" i="0">
              <a:solidFill>
                <a:srgbClr val="ECECE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rPr lang="en-US"/>
              <a:t>Selected features and their relevance to dengue outbreaks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SzPts val="2600"/>
              <a:buNone/>
            </a:pPr>
            <a:r>
              <a:rPr lang="en-US"/>
              <a:t>Remove Dummies Approach (NEXT)</a:t>
            </a:r>
            <a:br>
              <a:rPr lang="en-US"/>
            </a:br>
            <a:endParaRPr/>
          </a:p>
        </p:txBody>
      </p:sp>
      <p:pic>
        <p:nvPicPr>
          <p:cNvPr id="192" name="Google Shape;192;p28"/>
          <p:cNvPicPr preferRelativeResize="0"/>
          <p:nvPr/>
        </p:nvPicPr>
        <p:blipFill rotWithShape="1">
          <a:blip r:embed="rId3">
            <a:alphaModFix/>
          </a:blip>
          <a:srcRect b="4" l="3495" r="3387" t="0"/>
          <a:stretch/>
        </p:blipFill>
        <p:spPr>
          <a:xfrm>
            <a:off x="5334003" y="762000"/>
            <a:ext cx="6095997" cy="5337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/>
          <p:nvPr/>
        </p:nvSpPr>
        <p:spPr>
          <a:xfrm>
            <a:off x="0" y="0"/>
            <a:ext cx="12192000" cy="6105524"/>
          </a:xfrm>
          <a:custGeom>
            <a:rect b="b" l="l" r="r" t="t"/>
            <a:pathLst>
              <a:path extrusionOk="0" h="6105524" w="12192000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">
                <a:schemeClr val="accent5"/>
              </a:gs>
              <a:gs pos="30000">
                <a:schemeClr val="accent4"/>
              </a:gs>
              <a:gs pos="50000">
                <a:srgbClr val="7ED9CE"/>
              </a:gs>
              <a:gs pos="70000">
                <a:schemeClr val="accent2"/>
              </a:gs>
              <a:gs pos="90000">
                <a:schemeClr val="accent1"/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9" name="Google Shape;199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333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</a:pPr>
            <a:r>
              <a:rPr lang="en-US"/>
              <a:t>Second Approach Results</a:t>
            </a:r>
            <a:endParaRPr/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2894" y="2297621"/>
            <a:ext cx="7596911" cy="176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794" y="4171690"/>
            <a:ext cx="7596911" cy="190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308100" y="2730500"/>
            <a:ext cx="17568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K-Neighbors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Regressor</a:t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9131300" y="4597400"/>
            <a:ext cx="21717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Random forest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1323075" y="1258100"/>
            <a:ext cx="39018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</a:pPr>
            <a:r>
              <a:rPr lang="en-US"/>
              <a:t>Third Approach</a:t>
            </a:r>
            <a:endParaRPr/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750" y="914748"/>
            <a:ext cx="6199425" cy="53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1"/>
          <p:cNvSpPr txBox="1"/>
          <p:nvPr/>
        </p:nvSpPr>
        <p:spPr>
          <a:xfrm>
            <a:off x="765550" y="1954375"/>
            <a:ext cx="4828200" cy="3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Taking a look back at the Decision Tree Regression Graph we noticed that it does almost predict a peak, but kind of delayed</a:t>
            </a:r>
            <a:endParaRPr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Char char="●"/>
            </a:pPr>
            <a:r>
              <a:rPr lang="en-US" sz="2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non-improvement through feature selection and engineering showed perhaps we need a temporal factor and a model that could handle that</a:t>
            </a:r>
            <a:endParaRPr sz="26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1517904" y="1517904"/>
            <a:ext cx="91440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haroni"/>
              <a:buNone/>
            </a:pPr>
            <a:r>
              <a:rPr lang="en-US"/>
              <a:t>Third Approach</a:t>
            </a:r>
            <a:endParaRPr/>
          </a:p>
        </p:txBody>
      </p:sp>
      <p:sp>
        <p:nvSpPr>
          <p:cNvPr id="221" name="Google Shape;221;p32"/>
          <p:cNvSpPr txBox="1"/>
          <p:nvPr/>
        </p:nvSpPr>
        <p:spPr>
          <a:xfrm>
            <a:off x="1022675" y="3115900"/>
            <a:ext cx="10030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u="sng">
                <a:solidFill>
                  <a:schemeClr val="hlink"/>
                </a:solidFill>
                <a:latin typeface="Aharoni"/>
                <a:ea typeface="Aharoni"/>
                <a:cs typeface="Aharoni"/>
                <a:sym typeface="Aharoni"/>
                <a:hlinkClick r:id="rId3"/>
              </a:rPr>
              <a:t>https://acrobat.adobe.com/id/urn:aaid:sc:VA6C2:91e682a0-ec6c-473d-bc74-7f7efa68d965</a:t>
            </a:r>
            <a:endParaRPr sz="4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smaticVTI">
  <a:themeElements>
    <a:clrScheme name="AnalogousFromLightSeedLeftStep">
      <a:dk1>
        <a:srgbClr val="000000"/>
      </a:dk1>
      <a:lt1>
        <a:srgbClr val="FFFFFF"/>
      </a:lt1>
      <a:dk2>
        <a:srgbClr val="242C41"/>
      </a:dk2>
      <a:lt2>
        <a:srgbClr val="E8E6E2"/>
      </a:lt2>
      <a:accent1>
        <a:srgbClr val="6E92EE"/>
      </a:accent1>
      <a:accent2>
        <a:srgbClr val="2AAEE7"/>
      </a:accent2>
      <a:accent3>
        <a:srgbClr val="37B4A6"/>
      </a:accent3>
      <a:accent4>
        <a:srgbClr val="32B870"/>
      </a:accent4>
      <a:accent5>
        <a:srgbClr val="2DBB34"/>
      </a:accent5>
      <a:accent6>
        <a:srgbClr val="67B43A"/>
      </a:accent6>
      <a:hlink>
        <a:srgbClr val="918158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